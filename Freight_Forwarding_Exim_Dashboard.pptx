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EXIM CLIENT DASHBOARD</a:t>
            </a:r>
          </a:p>
          <a:p>
            <a:pPr algn="ctr">
              <a:defRPr sz="3600" b="1">
                <a:solidFill>
                  <a:srgbClr val="F8FAFC"/>
                </a:solidFill>
                <a:latin typeface="Segoe UI"/>
              </a:defRPr>
            </a:pPr>
            <a:r>
              <a:t>Freight Forwarding Suite &amp; Operations</a:t>
            </a:r>
          </a:p>
          <a:p>
            <a:pPr algn="ctr">
              <a:defRPr sz="1600">
                <a:solidFill>
                  <a:srgbClr val="06B6D4"/>
                </a:solidFill>
                <a:latin typeface="Segoe UI"/>
              </a:defRPr>
            </a:pPr>
            <a:r>
              <a:t>Automated Bill of Lading Generation • Real-Time Vessel &amp; Movement Timeline Map • Rate Quotations</a:t>
            </a:r>
          </a:p>
          <a:p>
            <a:br/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Complete Feature Breakdown &amp; Business Significance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Freight Forwarding Module — Executive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Key System Capabilities: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• Unified Freight Hub: </a:t>
            </a:r>
            <a:r>
              <a:rPr b="0" sz="1200">
                <a:solidFill>
                  <a:srgbClr val="F8FAFC"/>
                </a:solidFill>
              </a:rPr>
              <a:t>Single window control for FCL, LCL, Air &amp; Sea export/import shipments.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• Instant B/L Generation: </a:t>
            </a:r>
            <a:r>
              <a:rPr b="0" sz="1200">
                <a:solidFill>
                  <a:srgbClr val="F8FAFC"/>
                </a:solidFill>
              </a:rPr>
              <a:t>Create legal House B/L and MTD documents directly from client dashboard data.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• Interactive Route Tracking: </a:t>
            </a:r>
            <a:r>
              <a:rPr b="0" sz="1200">
                <a:solidFill>
                  <a:srgbClr val="F8FAFC"/>
                </a:solidFill>
              </a:rPr>
              <a:t>Live Leaflet Map &amp; step-by-step Movement Timeline from POL to POD.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• Rate Matrix &amp; Bidding: </a:t>
            </a:r>
            <a:r>
              <a:rPr b="0" sz="1200">
                <a:solidFill>
                  <a:srgbClr val="F8FAFC"/>
                </a:solidFill>
              </a:rPr>
              <a:t>Capture competitive forwarder rates with complete cost component breakups.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• Integrated Document Vault: </a:t>
            </a:r>
            <a:r>
              <a:rPr b="0" sz="1200">
                <a:solidFill>
                  <a:srgbClr val="F8FAFC"/>
                </a:solidFill>
              </a:rPr>
              <a:t>Automated Freight Certificates, DSR linkage, and audit-ready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Freight Forwarding Dashboard with job overview, status counters, and action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MODULE DASHBOARD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1: Freight Quotation &amp; Rate Procurement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Capabilities &amp; Business Significance: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✔ Multi-Vendor Rate Capture</a:t>
            </a:r>
            <a:br/>
            <a:r>
              <a:rPr b="0" sz="1100">
                <a:solidFill>
                  <a:srgbClr val="F8FAFC"/>
                </a:solidFill>
              </a:rPr>
              <a:t>Request quotes from multiple freight forwarders simultaneously with automated templating.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✔ Granular Charge Breakups</a:t>
            </a:r>
            <a:br/>
            <a:r>
              <a:rPr b="0" sz="1100">
                <a:solidFill>
                  <a:srgbClr val="F8FAFC"/>
                </a:solidFill>
              </a:rPr>
              <a:t>Capture itemized line items: Ocean Freight, Origin THC, BL Fee, Destination THC, and Handling Charges.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✔ Automated Matrix Comparison</a:t>
            </a:r>
            <a:br/>
            <a:r>
              <a:rPr b="0" sz="1100">
                <a:solidFill>
                  <a:srgbClr val="F8FAFC"/>
                </a:solidFill>
              </a:rPr>
              <a:t>Side-by-side rate evaluation matrix identifying lowest cost, shortest transit, and best terms.</a:t>
            </a:r>
          </a:p>
          <a:p>
            <a:pPr>
              <a:defRPr b="1" sz="1200">
                <a:solidFill>
                  <a:srgbClr val="3B82F6"/>
                </a:solidFill>
              </a:defRPr>
            </a:pPr>
            <a:r>
              <a:t>✔ 1-Click Forwarder Awarding</a:t>
            </a:r>
            <a:br/>
            <a:r>
              <a:rPr b="0" sz="1100">
                <a:solidFill>
                  <a:srgbClr val="F8FAFC"/>
                </a:solidFill>
              </a:rPr>
              <a:t>Assign winning rate directly to the job, populating financial ledgers automatically.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Business Significance</a:t>
            </a:r>
            <a:br/>
            <a:r>
              <a:rPr b="0" sz="1100">
                <a:solidFill>
                  <a:srgbClr val="F8FAFC"/>
                </a:solidFill>
              </a:rPr>
              <a:t>Eliminates opaque pricing, reduces ocean freight spend by 15-25%, and standardizes vendor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Rate Matrix comparison table and Capture Rates modal dialog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RATE CAPTURE &amp; QUOTATION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2: Automated Bill of Lading (B/L)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Client Dashboard B/L Generator: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1-Click Creation from Dashboard: </a:t>
            </a:r>
            <a:r>
              <a:rPr b="0" sz="1100">
                <a:solidFill>
                  <a:srgbClr val="F8FAFC"/>
                </a:solidFill>
              </a:rPr>
              <a:t>Generate House B/L and Multimodal Transport Documents (MTD) instantly with single-click trigger.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Smart Field Auto-Populate: </a:t>
            </a:r>
            <a:r>
              <a:rPr b="0" sz="1100">
                <a:solidFill>
                  <a:srgbClr val="F8FAFC"/>
                </a:solidFill>
              </a:rPr>
              <a:t>Seamlessly pulls Shipper, Consignee, Notify Party, Ocean Vessel/Voyage, POL, POD, and Delivery terms from EXIM job records.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Container &amp; Cargo Matrix: </a:t>
            </a:r>
            <a:r>
              <a:rPr b="0" sz="1100">
                <a:solidFill>
                  <a:srgbClr val="F8FAFC"/>
                </a:solidFill>
              </a:rPr>
              <a:t>Displays Container Numbers, Seal Numbers, Package counts, Gross Weight, Net Weight, and Marks &amp; Numbers.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Legal MTD Compliance Clauses: </a:t>
            </a:r>
            <a:r>
              <a:rPr b="0" sz="1100">
                <a:solidFill>
                  <a:srgbClr val="F8FAFC"/>
                </a:solidFill>
              </a:rPr>
              <a:t>Pre-built legal clauses for Multimodal Transport Operator (MTO) liabilities and document surrender requirements.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High-Res PDF Export &amp; Print: </a:t>
            </a:r>
            <a:r>
              <a:rPr b="0" sz="1100">
                <a:solidFill>
                  <a:srgbClr val="F8FAFC"/>
                </a:solidFill>
              </a:rPr>
              <a:t>Generate print-ready, vectorized PDFs (html2pdf.js engine) with company headers and authorization signatures.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Business Significance: </a:t>
            </a:r>
            <a:r>
              <a:rPr b="0" sz="1100">
                <a:solidFill>
                  <a:srgbClr val="F8FAFC"/>
                </a:solidFill>
              </a:rPr>
              <a:t>Saves 90% document turnaround time, eliminates data entry typos, and ensures 100% legal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Freight Bill of Lading Generator modal preview with MTD header, shipper/consignee, container grid &amp; PDF download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BILL OF LADING GENERATOR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3: Movement Timeline &amp; Live Leaflet Tracking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Visual Tracking Capabilities: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Leaflet Ocean Route Visualizer: </a:t>
            </a:r>
            <a:r>
              <a:rPr b="0" sz="1100">
                <a:solidFill>
                  <a:srgbClr val="F8FAFC"/>
                </a:solidFill>
              </a:rPr>
              <a:t>Geographic mapping using UN/LOCODE coordinates connecting Port of Loading (POL) to Port of Discharge (POD).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Active Vessel Pinpoint: </a:t>
            </a:r>
            <a:r>
              <a:rPr b="0" sz="1100">
                <a:solidFill>
                  <a:srgbClr val="F8FAFC"/>
                </a:solidFill>
              </a:rPr>
              <a:t>Custom vessel markers indicating real-time position along the maritime route line.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5-Stage Movement Timeline: </a:t>
            </a:r>
            <a:r>
              <a:rPr b="0" sz="1100">
                <a:solidFill>
                  <a:srgbClr val="F8FAFC"/>
                </a:solidFill>
              </a:rPr>
              <a:t>Milestone progress tracking: Gate In -&gt; Loaded on Vessel -&gt; Ocean Departure -&gt; Transshipment -&gt; Arrival POD -&gt; Gate Out.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Geocoding Engine: </a:t>
            </a:r>
            <a:r>
              <a:rPr b="0" sz="1100">
                <a:solidFill>
                  <a:srgbClr val="F8FAFC"/>
                </a:solidFill>
              </a:rPr>
              <a:t>Smart city &amp; port geocoder parsing UN/LOCODEs (e.g. INMUN, AEJEA, USNYC) with Nominatim fallback.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Delay &amp; Exception Alerts: </a:t>
            </a:r>
            <a:r>
              <a:rPr b="0" sz="1100">
                <a:solidFill>
                  <a:srgbClr val="F8FAFC"/>
                </a:solidFill>
              </a:rPr>
              <a:t>Visual status tags highlighting active transit vs completed vs delayed milestones.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• Business Significance: </a:t>
            </a:r>
            <a:r>
              <a:rPr b="0" sz="1100">
                <a:solidFill>
                  <a:srgbClr val="F8FAFC"/>
                </a:solidFill>
              </a:rPr>
              <a:t>Empowers clients with 24/7 self-service shipment tracking, reducing support queries by 80%.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Leaflet interactive map modal with vessel route line and 5-stage movement timeline 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CONTAINER TRACKING MAP &amp; TIMELINE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Deep Dive: 5-Stage Movement Timeline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STAGE 1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Origin / Gate In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Container gated inside CFS / Port terminal. Weight &amp; seal verification completed.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371600"/>
            <a:ext cx="20116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STAGE 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Vessel Loading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Stowed on container vessel. Export customs clearance &amp; Shipping Bill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371600"/>
            <a:ext cx="20116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STAGE 3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Ocean Transit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Vessel departure. Real-time Leaflet map vessel position updates across ocean legs.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371600"/>
            <a:ext cx="20116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STAGE 4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Discharge POD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Vessel arrival at Port of Discharge. Unloading &amp; import terminal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371600"/>
            <a:ext cx="20116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STAGE 5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Final Gate Out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Customs clearance at destination &amp; container gate out for door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72865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892040"/>
            <a:ext cx="10454335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Panoramic screenshot of the complete movement timeline drawer showing date timestamps and status badges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53712"/>
            <a:ext cx="104543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FULL TIMELINE &amp; MAP PANORAMA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4: Job Operations &amp; DSR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Operational Controls: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Daily Status Report (DSR) Sync: </a:t>
            </a:r>
            <a:r>
              <a:rPr b="0" sz="1100">
                <a:solidFill>
                  <a:srgbClr val="F8FAFC"/>
                </a:solidFill>
              </a:rPr>
              <a:t>Seamless sync between Export DSR jobs and Freight Forwarding modules.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Container Allocation: </a:t>
            </a:r>
            <a:r>
              <a:rPr b="0" sz="1100">
                <a:solidFill>
                  <a:srgbClr val="F8FAFC"/>
                </a:solidFill>
              </a:rPr>
              <a:t>Track FCL container IDs, seal numbers, container types (20GP, 40HC, Reefer), and weight distribution.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Shipping Bill Linking: </a:t>
            </a:r>
            <a:r>
              <a:rPr b="0" sz="1100">
                <a:solidFill>
                  <a:srgbClr val="F8FAFC"/>
                </a:solidFill>
              </a:rPr>
              <a:t>Connect Customs Shipping Bills (SB No, Date, LEO Date) directly to Ocean Bills of Lading.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Copy-Paste Utility: </a:t>
            </a:r>
            <a:r>
              <a:rPr b="0" sz="1100">
                <a:solidFill>
                  <a:srgbClr val="F8FAFC"/>
                </a:solidFill>
              </a:rPr>
              <a:t>One-click copy shortcuts for container numbers, BL numbers, and tracking links.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Business Significance: </a:t>
            </a:r>
            <a:r>
              <a:rPr b="0" sz="1100">
                <a:solidFill>
                  <a:srgbClr val="F8FAFC"/>
                </a:solidFill>
              </a:rPr>
              <a:t>Reduces operational bottlenecks, ensures 100% data alignment between forwarder and exporter.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Job Detail view with container allocation grid, seal numbers, and shipping bill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JOB DETAIL &amp; CONTAINER TABLE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5: Integrated Document Directory &amp; Vault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Document Management: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Freight Certificates: </a:t>
            </a:r>
            <a:r>
              <a:rPr b="0" sz="1100">
                <a:solidFill>
                  <a:srgbClr val="F8FAFC"/>
                </a:solidFill>
              </a:rPr>
              <a:t>Instant generation of official Freight Certificates declaring freight prepaid or collect terms.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Standard Document Suite: </a:t>
            </a:r>
            <a:r>
              <a:rPr b="0" sz="1100">
                <a:solidFill>
                  <a:srgbClr val="F8FAFC"/>
                </a:solidFill>
              </a:rPr>
              <a:t>Central repository for Delivery Orders (DO), Commercial Invoices, Packing Lists, and MTDs.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Inline Document Editor: </a:t>
            </a:r>
            <a:r>
              <a:rPr b="0" sz="1100">
                <a:solidFill>
                  <a:srgbClr val="F8FAFC"/>
                </a:solidFill>
              </a:rPr>
              <a:t>Live editor dialog to adjust addresses, notify parties, description of goods, and signatures.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Audit-Ready Storage: </a:t>
            </a:r>
            <a:r>
              <a:rPr b="0" sz="1100">
                <a:solidFill>
                  <a:srgbClr val="F8FAFC"/>
                </a:solidFill>
              </a:rPr>
              <a:t>Secure digital file attachments per job accessible by clients, customs brokers, and forwarders.</a:t>
            </a:r>
          </a:p>
          <a:p>
            <a:pPr>
              <a:defRPr b="1" sz="1100">
                <a:solidFill>
                  <a:srgbClr val="3B82F6"/>
                </a:solidFill>
              </a:defRPr>
            </a:pPr>
            <a:r>
              <a:t>• Business Significance: </a:t>
            </a:r>
            <a:r>
              <a:rPr b="0" sz="1100">
                <a:solidFill>
                  <a:srgbClr val="F8FAFC"/>
                </a:solidFill>
              </a:rPr>
              <a:t>Zero paper loss, instantaneous document sharing with overseas consignees, accelerated bank LC negotiation.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783080"/>
            <a:ext cx="44805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[ PASTE / DROP SCREENSHOT HERE ]</a:t>
            </a:r>
            <a:br/>
            <a:r>
              <a:t>Screenshot showing Document Vault listing Freight Certificate, B/L preview, and PDF download buttons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4475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📷 DOCUMENT DIRECTORY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Business Impact &amp; Quantitative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90%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Faster B/L Issuance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Draft B/L created in under 60 seconds from dashboard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Timeline Visibility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Real-time vessel tracking on Leaflet map from POL to POD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25%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Freight Cost Savings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Competitive rate procurement &amp; transparent charge breakups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24688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0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Manual Data Typos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synchronization between Shipping Bill &amp; Bill of Lading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728655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Summary of Platform ROI: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Accelerated Cash Flow: Faster B/L generation enables quicker presentation of shipping documents to banks under Letters of Credit (LC).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Proactive Demurrage Prevention: Live movement timeline maps alert logistics managers prior to vessel arrival, ensuring timely customs clearance.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Customer Portal Satisfaction: Clients track containers self-service via Leaflet map without phone calls or emails.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EXIM CLIENT DASHBOARD - FREIGHT FORWARDING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EXIM FREIGHT FORWARDING PLATFORM</a:t>
            </a:r>
          </a:p>
          <a:p>
            <a:pPr algn="ctr">
              <a:defRPr sz="2800" b="1">
                <a:solidFill>
                  <a:srgbClr val="F8FAFC"/>
                </a:solidFill>
              </a:defRPr>
            </a:pPr>
            <a:r>
              <a:t>Transforming Global Freight Operations with Automation &amp; Visual Intelligence</a:t>
            </a:r>
          </a:p>
          <a:p>
            <a:br/>
            <a:pPr algn="ctr">
              <a:defRPr sz="1600">
                <a:solidFill>
                  <a:srgbClr val="06B6D4"/>
                </a:solidFill>
              </a:defRPr>
            </a:pPr>
            <a:r>
              <a:t>Thank You!</a:t>
            </a:r>
            <a:br/>
            <a:r>
              <a:t>Ready for Dashboard Deployment &amp; Live Screenshot Insertion.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